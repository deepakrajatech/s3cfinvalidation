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9"/>
  </p:notesMasterIdLst>
  <p:handoutMasterIdLst>
    <p:handoutMasterId r:id="rId20"/>
  </p:handoutMasterIdLst>
  <p:sldIdLst>
    <p:sldId id="2147480576" r:id="rId5"/>
    <p:sldId id="2147480575" r:id="rId6"/>
    <p:sldId id="2147480595" r:id="rId7"/>
    <p:sldId id="2147480596" r:id="rId8"/>
    <p:sldId id="2147480597" r:id="rId9"/>
    <p:sldId id="2147480572" r:id="rId10"/>
    <p:sldId id="2147480598" r:id="rId11"/>
    <p:sldId id="2147480601" r:id="rId12"/>
    <p:sldId id="2147480599" r:id="rId13"/>
    <p:sldId id="2147480602" r:id="rId14"/>
    <p:sldId id="2147480600" r:id="rId15"/>
    <p:sldId id="2147480603" r:id="rId16"/>
    <p:sldId id="2147480577" r:id="rId17"/>
    <p:sldId id="214748056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97"/>
            <p14:sldId id="2147480572"/>
            <p14:sldId id="2147480598"/>
            <p14:sldId id="2147480601"/>
            <p14:sldId id="2147480599"/>
            <p14:sldId id="2147480602"/>
            <p14:sldId id="2147480600"/>
            <p14:sldId id="2147480603"/>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9" dt="2025-12-04T03:47:27.8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201" autoAdjust="0"/>
  </p:normalViewPr>
  <p:slideViewPr>
    <p:cSldViewPr snapToGrid="0" showGuides="1">
      <p:cViewPr varScale="1">
        <p:scale>
          <a:sx n="74" d="100"/>
          <a:sy n="74" d="100"/>
        </p:scale>
        <p:origin x="300" y="56"/>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2-04T03:47:28.145" v="940" actId="21"/>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2-04T03:01:06.028" v="865" actId="20577"/>
        <pc:sldMkLst>
          <pc:docMk/>
          <pc:sldMk cId="1142438501" sldId="2147480572"/>
        </pc:sldMkLst>
        <pc:spChg chg="mod">
          <ac:chgData name="K, Deepakraja" userId="6a0b3f5f-bb98-4963-9c06-3a857a7b4d39" providerId="ADAL" clId="{0BD0D4A0-915D-4619-8D79-ECB3F60E8FBA}" dt="2025-11-07T08:38:03.859" v="468" actId="20577"/>
          <ac:spMkLst>
            <pc:docMk/>
            <pc:sldMk cId="1142438501" sldId="2147480572"/>
            <ac:spMk id="12" creationId="{1D933222-1BC8-DA02-35B7-4FFB7A6E1F40}"/>
          </ac:spMkLst>
        </pc:spChg>
        <pc:spChg chg="mod">
          <ac:chgData name="K, Deepakraja" userId="6a0b3f5f-bb98-4963-9c06-3a857a7b4d39" providerId="ADAL" clId="{0BD0D4A0-915D-4619-8D79-ECB3F60E8FBA}" dt="2025-12-04T03:01:06.028" v="865" actId="20577"/>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modSp mod">
        <pc:chgData name="K, Deepakraja" userId="6a0b3f5f-bb98-4963-9c06-3a857a7b4d39" providerId="ADAL" clId="{0BD0D4A0-915D-4619-8D79-ECB3F60E8FBA}" dt="2025-12-04T02:55:48.562" v="777" actId="14100"/>
        <pc:sldMkLst>
          <pc:docMk/>
          <pc:sldMk cId="980020362" sldId="2147480595"/>
        </pc:sldMkLst>
        <pc:spChg chg="mod">
          <ac:chgData name="K, Deepakraja" userId="6a0b3f5f-bb98-4963-9c06-3a857a7b4d39" providerId="ADAL" clId="{0BD0D4A0-915D-4619-8D79-ECB3F60E8FBA}" dt="2025-11-15T09:28:44.300" v="564" actId="20577"/>
          <ac:spMkLst>
            <pc:docMk/>
            <pc:sldMk cId="980020362" sldId="2147480595"/>
            <ac:spMk id="3" creationId="{C31E1660-3350-9166-028A-CF98A4E936BC}"/>
          </ac:spMkLst>
        </pc:spChg>
        <pc:spChg chg="mod">
          <ac:chgData name="K, Deepakraja" userId="6a0b3f5f-bb98-4963-9c06-3a857a7b4d39" providerId="ADAL" clId="{0BD0D4A0-915D-4619-8D79-ECB3F60E8FBA}" dt="2025-12-04T02:55:48.562" v="777" actId="14100"/>
          <ac:spMkLst>
            <pc:docMk/>
            <pc:sldMk cId="980020362" sldId="2147480595"/>
            <ac:spMk id="5" creationId="{F62F6F96-85F7-2A53-2313-D132071C2394}"/>
          </ac:spMkLst>
        </pc:spChg>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sldChg>
      <pc:sldChg chg="delSp modSp mod ord">
        <pc:chgData name="K, Deepakraja" userId="6a0b3f5f-bb98-4963-9c06-3a857a7b4d39" providerId="ADAL" clId="{0BD0D4A0-915D-4619-8D79-ECB3F60E8FBA}" dt="2025-12-04T02:42:08.394" v="762"/>
        <pc:sldMkLst>
          <pc:docMk/>
          <pc:sldMk cId="3074673905" sldId="2147480597"/>
        </pc:sldMkLst>
        <pc:spChg chg="mod">
          <ac:chgData name="K, Deepakraja" userId="6a0b3f5f-bb98-4963-9c06-3a857a7b4d39" providerId="ADAL" clId="{0BD0D4A0-915D-4619-8D79-ECB3F60E8FBA}" dt="2025-11-15T09:30:11.462" v="572"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5T09:48:08.478" v="641" actId="12"/>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5T10:15:38.210" v="709" actId="14100"/>
        <pc:sldMkLst>
          <pc:docMk/>
          <pc:sldMk cId="508331888" sldId="2147480598"/>
        </pc:sldMkLst>
        <pc:spChg chg="mod">
          <ac:chgData name="K, Deepakraja" userId="6a0b3f5f-bb98-4963-9c06-3a857a7b4d39" providerId="ADAL" clId="{0BD0D4A0-915D-4619-8D79-ECB3F60E8FBA}" dt="2025-11-07T08:37:48.030" v="464" actId="20577"/>
          <ac:spMkLst>
            <pc:docMk/>
            <pc:sldMk cId="508331888" sldId="2147480598"/>
            <ac:spMk id="12" creationId="{5B51EBC5-8702-1C5E-AB07-3767107A0564}"/>
          </ac:spMkLst>
        </pc:spChg>
        <pc:spChg chg="mod">
          <ac:chgData name="K, Deepakraja" userId="6a0b3f5f-bb98-4963-9c06-3a857a7b4d39" providerId="ADAL" clId="{0BD0D4A0-915D-4619-8D79-ECB3F60E8FBA}" dt="2025-11-15T10:15:38.210" v="709" actId="14100"/>
          <ac:spMkLst>
            <pc:docMk/>
            <pc:sldMk cId="508331888" sldId="2147480598"/>
            <ac:spMk id="14" creationId="{93EF881E-51B9-06BC-5DD5-1DF3162E22EC}"/>
          </ac:spMkLst>
        </pc:spChg>
      </pc:sldChg>
      <pc:sldChg chg="addSp delSp modSp add mod">
        <pc:chgData name="K, Deepakraja" userId="6a0b3f5f-bb98-4963-9c06-3a857a7b4d39" providerId="ADAL" clId="{0BD0D4A0-915D-4619-8D79-ECB3F60E8FBA}" dt="2025-12-04T02:41:41.177" v="760" actId="1076"/>
        <pc:sldMkLst>
          <pc:docMk/>
          <pc:sldMk cId="2731790871" sldId="2147480599"/>
        </pc:sldMkLst>
        <pc:spChg chg="mod">
          <ac:chgData name="K, Deepakraja" userId="6a0b3f5f-bb98-4963-9c06-3a857a7b4d39" providerId="ADAL" clId="{0BD0D4A0-915D-4619-8D79-ECB3F60E8FBA}" dt="2025-11-15T09:46:18.081" v="625"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5T09:53:35.386" v="669" actId="21"/>
          <ac:spMkLst>
            <pc:docMk/>
            <pc:sldMk cId="2731790871" sldId="2147480599"/>
            <ac:spMk id="14" creationId="{244A88DC-A7DB-8A4B-9D4A-A3184901093B}"/>
          </ac:spMkLst>
        </pc:spChg>
        <pc:picChg chg="add mod">
          <ac:chgData name="K, Deepakraja" userId="6a0b3f5f-bb98-4963-9c06-3a857a7b4d39" providerId="ADAL" clId="{0BD0D4A0-915D-4619-8D79-ECB3F60E8FBA}" dt="2025-12-04T02:41:41.177" v="760" actId="1076"/>
          <ac:picMkLst>
            <pc:docMk/>
            <pc:sldMk cId="2731790871" sldId="2147480599"/>
            <ac:picMk id="3" creationId="{0030018D-6A13-62E4-1BDF-BAE3AB0EAAA6}"/>
          </ac:picMkLst>
        </pc:picChg>
      </pc:sldChg>
      <pc:sldChg chg="delSp modSp add mod">
        <pc:chgData name="K, Deepakraja" userId="6a0b3f5f-bb98-4963-9c06-3a857a7b4d39" providerId="ADAL" clId="{0BD0D4A0-915D-4619-8D79-ECB3F60E8FBA}" dt="2025-11-07T08:12:10.473" v="439" actId="478"/>
        <pc:sldMkLst>
          <pc:docMk/>
          <pc:sldMk cId="2326804713" sldId="2147480600"/>
        </pc:sldMkLst>
        <pc:spChg chg="mod">
          <ac:chgData name="K, Deepakraja" userId="6a0b3f5f-bb98-4963-9c06-3a857a7b4d39" providerId="ADAL" clId="{0BD0D4A0-915D-4619-8D79-ECB3F60E8FBA}" dt="2025-11-07T07:39:40.505" v="62"/>
          <ac:spMkLst>
            <pc:docMk/>
            <pc:sldMk cId="2326804713" sldId="2147480600"/>
            <ac:spMk id="12" creationId="{971802A5-BB12-0A58-9000-798F5A0DA815}"/>
          </ac:spMkLst>
        </pc:spChg>
        <pc:spChg chg="mod">
          <ac:chgData name="K, Deepakraja" userId="6a0b3f5f-bb98-4963-9c06-3a857a7b4d39" providerId="ADAL" clId="{0BD0D4A0-915D-4619-8D79-ECB3F60E8FBA}" dt="2025-11-07T07:41:28.630" v="97" actId="20577"/>
          <ac:spMkLst>
            <pc:docMk/>
            <pc:sldMk cId="2326804713" sldId="2147480600"/>
            <ac:spMk id="14" creationId="{DDA240E4-1DA7-0CD3-7A0A-13FDD4BB9B66}"/>
          </ac:spMkLst>
        </pc:spChg>
      </pc:sldChg>
      <pc:sldChg chg="add del">
        <pc:chgData name="K, Deepakraja" userId="6a0b3f5f-bb98-4963-9c06-3a857a7b4d39" providerId="ADAL" clId="{0BD0D4A0-915D-4619-8D79-ECB3F60E8FBA}" dt="2025-11-07T08:10:09.825" v="428" actId="47"/>
        <pc:sldMkLst>
          <pc:docMk/>
          <pc:sldMk cId="317414448" sldId="2147480601"/>
        </pc:sldMkLst>
      </pc:sldChg>
      <pc:sldChg chg="delSp modSp new mod">
        <pc:chgData name="K, Deepakraja" userId="6a0b3f5f-bb98-4963-9c06-3a857a7b4d39" providerId="ADAL" clId="{0BD0D4A0-915D-4619-8D79-ECB3F60E8FBA}" dt="2025-11-28T13:09:13.633" v="758" actId="6549"/>
        <pc:sldMkLst>
          <pc:docMk/>
          <pc:sldMk cId="3222540325" sldId="2147480601"/>
        </pc:sldMkLst>
        <pc:spChg chg="mod">
          <ac:chgData name="K, Deepakraja" userId="6a0b3f5f-bb98-4963-9c06-3a857a7b4d39" providerId="ADAL" clId="{0BD0D4A0-915D-4619-8D79-ECB3F60E8FBA}" dt="2025-11-28T13:09:13.633" v="758" actId="6549"/>
          <ac:spMkLst>
            <pc:docMk/>
            <pc:sldMk cId="3222540325" sldId="2147480601"/>
            <ac:spMk id="6" creationId="{501A0956-905A-C519-3628-A589BF9D5A04}"/>
          </ac:spMkLst>
        </pc:spChg>
      </pc:sldChg>
      <pc:sldChg chg="addSp delSp modSp new mod">
        <pc:chgData name="K, Deepakraja" userId="6a0b3f5f-bb98-4963-9c06-3a857a7b4d39" providerId="ADAL" clId="{0BD0D4A0-915D-4619-8D79-ECB3F60E8FBA}" dt="2025-11-28T13:08:18.255" v="756" actId="5793"/>
        <pc:sldMkLst>
          <pc:docMk/>
          <pc:sldMk cId="2624481073" sldId="2147480602"/>
        </pc:sldMkLst>
        <pc:spChg chg="mod">
          <ac:chgData name="K, Deepakraja" userId="6a0b3f5f-bb98-4963-9c06-3a857a7b4d39" providerId="ADAL" clId="{0BD0D4A0-915D-4619-8D79-ECB3F60E8FBA}" dt="2025-11-28T13:08:18.255" v="756" actId="5793"/>
          <ac:spMkLst>
            <pc:docMk/>
            <pc:sldMk cId="2624481073" sldId="2147480602"/>
            <ac:spMk id="6" creationId="{4345106D-E3A9-A50F-6D31-66E87E2CC587}"/>
          </ac:spMkLst>
        </pc:spChg>
        <pc:picChg chg="add mod">
          <ac:chgData name="K, Deepakraja" userId="6a0b3f5f-bb98-4963-9c06-3a857a7b4d39" providerId="ADAL" clId="{0BD0D4A0-915D-4619-8D79-ECB3F60E8FBA}" dt="2025-11-28T13:07:51.794" v="742" actId="1076"/>
          <ac:picMkLst>
            <pc:docMk/>
            <pc:sldMk cId="2624481073" sldId="2147480602"/>
            <ac:picMk id="4" creationId="{5A1BFD2C-4C21-D0D6-81A4-C0DEDD433D14}"/>
          </ac:picMkLst>
        </pc:picChg>
        <pc:picChg chg="add mod">
          <ac:chgData name="K, Deepakraja" userId="6a0b3f5f-bb98-4963-9c06-3a857a7b4d39" providerId="ADAL" clId="{0BD0D4A0-915D-4619-8D79-ECB3F60E8FBA}" dt="2025-11-28T13:07:47.829" v="741" actId="14100"/>
          <ac:picMkLst>
            <pc:docMk/>
            <pc:sldMk cId="2624481073" sldId="2147480602"/>
            <ac:picMk id="9" creationId="{4D8DD642-8C22-3FDF-9723-5302D814BF7F}"/>
          </ac:picMkLst>
        </pc:picChg>
      </pc:sldChg>
      <pc:sldChg chg="modSp add mod">
        <pc:chgData name="K, Deepakraja" userId="6a0b3f5f-bb98-4963-9c06-3a857a7b4d39" providerId="ADAL" clId="{0BD0D4A0-915D-4619-8D79-ECB3F60E8FBA}" dt="2025-12-04T03:47:28.145" v="940" actId="21"/>
        <pc:sldMkLst>
          <pc:docMk/>
          <pc:sldMk cId="2094781119" sldId="2147480603"/>
        </pc:sldMkLst>
        <pc:spChg chg="mod">
          <ac:chgData name="K, Deepakraja" userId="6a0b3f5f-bb98-4963-9c06-3a857a7b4d39" providerId="ADAL" clId="{0BD0D4A0-915D-4619-8D79-ECB3F60E8FBA}" dt="2025-12-04T03:47:28.145" v="940" actId="21"/>
          <ac:spMkLst>
            <pc:docMk/>
            <pc:sldMk cId="2094781119" sldId="2147480603"/>
            <ac:spMk id="12" creationId="{8899C19B-664E-C193-F1DF-8278FC04EE0A}"/>
          </ac:spMkLst>
        </pc:spChg>
        <pc:spChg chg="mod">
          <ac:chgData name="K, Deepakraja" userId="6a0b3f5f-bb98-4963-9c06-3a857a7b4d39" providerId="ADAL" clId="{0BD0D4A0-915D-4619-8D79-ECB3F60E8FBA}" dt="2025-12-04T03:47:24.552" v="939"/>
          <ac:spMkLst>
            <pc:docMk/>
            <pc:sldMk cId="2094781119" sldId="2147480603"/>
            <ac:spMk id="14" creationId="{F47F502B-9CB8-967C-1760-7B02E337428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28/11/2025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28/11/2025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a:t>
            </a:r>
            <a:r>
              <a:rPr lang="en-US" b="1" dirty="0" err="1">
                <a:solidFill>
                  <a:schemeClr val="bg1"/>
                </a:solidFill>
              </a:rPr>
              <a:t>codepipeline</a:t>
            </a:r>
            <a:r>
              <a:rPr lang="en-US" b="1" dirty="0">
                <a:solidFill>
                  <a:schemeClr val="bg1"/>
                </a:solidFill>
              </a:rPr>
              <a:t>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a:xfrm>
            <a:off x="479425" y="2097086"/>
            <a:ext cx="11232000" cy="4088053"/>
          </a:xfrm>
        </p:spPr>
        <p:txBody>
          <a:bodyPr/>
          <a:lstStyle/>
          <a:p>
            <a:pPr marL="0" indent="0">
              <a:buNone/>
            </a:pPr>
            <a:endParaRPr lang="en-IN" sz="2000" b="1" dirty="0"/>
          </a:p>
          <a:p>
            <a:pPr marL="0" indent="0">
              <a:buNone/>
            </a:pPr>
            <a:r>
              <a:rPr lang="en-IN" sz="2000" b="1" dirty="0"/>
              <a:t>Components:</a:t>
            </a:r>
          </a:p>
          <a:p>
            <a:pPr>
              <a:buFont typeface="Wingdings" panose="05000000000000000000" pitchFamily="2" charset="2"/>
              <a:buChar char="Ø"/>
            </a:pPr>
            <a:endParaRPr lang="en-IN" dirty="0"/>
          </a:p>
          <a:p>
            <a:pPr>
              <a:buFont typeface="Wingdings" panose="05000000000000000000" pitchFamily="2" charset="2"/>
              <a:buChar char="Ø"/>
            </a:pPr>
            <a:r>
              <a:rPr lang="en-US" dirty="0"/>
              <a:t>GitHub or </a:t>
            </a:r>
            <a:r>
              <a:rPr lang="en-US" dirty="0" err="1"/>
              <a:t>CodeCommit</a:t>
            </a:r>
            <a:r>
              <a:rPr lang="en-US" dirty="0"/>
              <a:t> as source stage</a:t>
            </a: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pPr>
              <a:buFont typeface="Wingdings" panose="05000000000000000000" pitchFamily="2" charset="2"/>
              <a:buChar char="Ø"/>
            </a:pPr>
            <a:r>
              <a:rPr lang="en-IN" dirty="0" err="1"/>
              <a:t>CodePipeline</a:t>
            </a:r>
            <a:endParaRPr lang="en-IN" dirty="0"/>
          </a:p>
          <a:p>
            <a:pPr>
              <a:buFont typeface="Wingdings" panose="05000000000000000000" pitchFamily="2" charset="2"/>
              <a:buChar char="Ø"/>
            </a:pPr>
            <a:endParaRPr lang="en-IN" dirty="0"/>
          </a:p>
          <a:p>
            <a:pPr>
              <a:buFont typeface="Wingdings" panose="05000000000000000000" pitchFamily="2" charset="2"/>
              <a:buChar char="Ø"/>
            </a:pPr>
            <a:endParaRPr lang="en-IN" dirty="0"/>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5227607"/>
          </a:xfrm>
        </p:spPr>
        <p:txBody>
          <a:bodyPr/>
          <a:lstStyle/>
          <a:p>
            <a:pPr>
              <a:buFont typeface="Wingdings" panose="05000000000000000000" pitchFamily="2" charset="2"/>
              <a:buChar char="Ø"/>
            </a:pPr>
            <a:endParaRPr lang="en-IN" dirty="0"/>
          </a:p>
          <a:p>
            <a:pPr>
              <a:buFont typeface="Wingdings" panose="05000000000000000000" pitchFamily="2" charset="2"/>
              <a:buChar char="Ø"/>
            </a:pPr>
            <a:r>
              <a:rPr lang="en-US" dirty="0"/>
              <a:t> GitHub or </a:t>
            </a:r>
            <a:r>
              <a:rPr lang="en-US" dirty="0" err="1"/>
              <a:t>CodeCommit</a:t>
            </a:r>
            <a:r>
              <a:rPr lang="en-US" dirty="0"/>
              <a:t> as source stage</a:t>
            </a: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pPr>
              <a:buFont typeface="Wingdings" panose="05000000000000000000" pitchFamily="2" charset="2"/>
              <a:buChar char="Ø"/>
            </a:pPr>
            <a:r>
              <a:rPr lang="en-IN" dirty="0"/>
              <a:t>CloudFront Distribution - Serves content globally</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a:t>
            </a:r>
            <a:r>
              <a:rPr lang="en-IN" dirty="0" err="1"/>
              <a:t>Github</a:t>
            </a:r>
            <a:endParaRPr lang="en-IN" dirty="0"/>
          </a:p>
          <a:p>
            <a:pPr>
              <a:lnSpc>
                <a:spcPct val="150000"/>
              </a:lnSpc>
              <a:buFont typeface="Wingdings" panose="05000000000000000000" pitchFamily="2" charset="2"/>
              <a:buChar char="Ø"/>
            </a:pPr>
            <a:r>
              <a:rPr lang="en-IN" dirty="0" err="1"/>
              <a:t>Codepipeline</a:t>
            </a:r>
            <a:r>
              <a:rPr lang="en-IN" dirty="0"/>
              <a:t> triggers &amp; upload the file in S3</a:t>
            </a:r>
          </a:p>
          <a:p>
            <a:pPr>
              <a:lnSpc>
                <a:spcPct val="150000"/>
              </a:lnSpc>
              <a:buFont typeface="Wingdings" panose="05000000000000000000" pitchFamily="2" charset="2"/>
              <a:buChar char="Ø"/>
            </a:pPr>
            <a:r>
              <a:rPr lang="en-IN" dirty="0"/>
              <a:t>Further S3 Event triggers the Lambda function</a:t>
            </a:r>
          </a:p>
          <a:p>
            <a:pPr>
              <a:lnSpc>
                <a:spcPct val="150000"/>
              </a:lnSpc>
              <a:buFont typeface="Wingdings" panose="05000000000000000000" pitchFamily="2" charset="2"/>
              <a:buChar char="Ø"/>
            </a:pPr>
            <a:r>
              <a:rPr lang="en-IN" dirty="0"/>
              <a:t>Lambda reads object key from event &amp;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664898"/>
            <a:ext cx="11233150" cy="4675049"/>
          </a:xfrm>
        </p:spPr>
        <p:txBody>
          <a:bodyPr/>
          <a:lstStyle/>
          <a:p>
            <a:pPr>
              <a:buFont typeface="Wingdings" panose="05000000000000000000" pitchFamily="2" charset="2"/>
              <a:buChar char="Ø"/>
            </a:pPr>
            <a:r>
              <a:rPr lang="en-US" dirty="0"/>
              <a:t>Write Python code to call </a:t>
            </a:r>
            <a:r>
              <a:rPr lang="en-US" dirty="0" err="1"/>
              <a:t>CreateInvalidation</a:t>
            </a:r>
            <a:endParaRPr lang="en-US" dirty="0"/>
          </a:p>
          <a:p>
            <a:pPr>
              <a:buFont typeface="Wingdings" panose="05000000000000000000" pitchFamily="2" charset="2"/>
              <a:buChar char="Ø"/>
            </a:pPr>
            <a:r>
              <a:rPr lang="en-US" dirty="0"/>
              <a:t>Add CLOUDFRONT_DISTRIBUTION_ID environment variable</a:t>
            </a:r>
          </a:p>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pPr>
              <a:lnSpc>
                <a:spcPct val="150000"/>
              </a:lnSpc>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81E62CE-5727-0CA3-8DAD-0BD6C5DD0187}"/>
              </a:ext>
            </a:extLst>
          </p:cNvPr>
          <p:cNvSpPr>
            <a:spLocks noGrp="1"/>
          </p:cNvSpPr>
          <p:nvPr>
            <p:ph type="pic" sz="quarter" idx="15"/>
          </p:nvPr>
        </p:nvSpPr>
        <p:spPr/>
        <p:txBody>
          <a:bodyPr/>
          <a:lstStyle/>
          <a:p>
            <a:endParaRPr lang="en-IN"/>
          </a:p>
        </p:txBody>
      </p:sp>
      <p:sp>
        <p:nvSpPr>
          <p:cNvPr id="3" name="Slide Number Placeholder 2">
            <a:extLst>
              <a:ext uri="{FF2B5EF4-FFF2-40B4-BE49-F238E27FC236}">
                <a16:creationId xmlns:a16="http://schemas.microsoft.com/office/drawing/2014/main" id="{19D0E4A3-DA1C-612C-44C3-5EBBC91DBC99}"/>
              </a:ext>
            </a:extLst>
          </p:cNvPr>
          <p:cNvSpPr>
            <a:spLocks noGrp="1"/>
          </p:cNvSpPr>
          <p:nvPr>
            <p:ph type="sldNum" sz="quarter" idx="12"/>
          </p:nvPr>
        </p:nvSpPr>
        <p:spPr/>
        <p:txBody>
          <a:bodyPr/>
          <a:lstStyle/>
          <a:p>
            <a:fld id="{E4C2AD82-1025-4508-97C1-6F7EE5C92734}" type="slidenum">
              <a:rPr lang="en-AU" smtClean="0"/>
              <a:pPr/>
              <a:t>8</a:t>
            </a:fld>
            <a:endParaRPr lang="en-AU" dirty="0"/>
          </a:p>
        </p:txBody>
      </p:sp>
      <p:sp>
        <p:nvSpPr>
          <p:cNvPr id="6" name="Text Placeholder 5">
            <a:extLst>
              <a:ext uri="{FF2B5EF4-FFF2-40B4-BE49-F238E27FC236}">
                <a16:creationId xmlns:a16="http://schemas.microsoft.com/office/drawing/2014/main" id="{501A0956-905A-C519-3628-A589BF9D5A04}"/>
              </a:ext>
            </a:extLst>
          </p:cNvPr>
          <p:cNvSpPr>
            <a:spLocks noGrp="1"/>
          </p:cNvSpPr>
          <p:nvPr>
            <p:ph type="body" sz="quarter" idx="17"/>
          </p:nvPr>
        </p:nvSpPr>
        <p:spPr>
          <a:xfrm>
            <a:off x="353683" y="108000"/>
            <a:ext cx="11357742" cy="6577472"/>
          </a:xfrm>
        </p:spPr>
        <p:txBody>
          <a:bodyPr/>
          <a:lstStyle/>
          <a:p>
            <a:pPr marL="0" indent="0">
              <a:spcBef>
                <a:spcPts val="100"/>
              </a:spcBef>
              <a:spcAft>
                <a:spcPts val="300"/>
              </a:spcAft>
              <a:buNone/>
            </a:pPr>
            <a:r>
              <a:rPr lang="en-IN" dirty="0"/>
              <a:t>   def </a:t>
            </a:r>
            <a:r>
              <a:rPr lang="en-IN" dirty="0" err="1"/>
              <a:t>lambda_handler</a:t>
            </a:r>
            <a:r>
              <a:rPr lang="en-IN" dirty="0"/>
              <a:t>(event, context):</a:t>
            </a:r>
          </a:p>
          <a:p>
            <a:pPr marL="0" indent="0">
              <a:spcBef>
                <a:spcPts val="100"/>
              </a:spcBef>
              <a:spcAft>
                <a:spcPts val="300"/>
              </a:spcAft>
              <a:buNone/>
            </a:pPr>
            <a:r>
              <a:rPr lang="en-IN" dirty="0"/>
              <a:t>    </a:t>
            </a:r>
            <a:r>
              <a:rPr lang="en-IN" dirty="0" err="1"/>
              <a:t>cf_client</a:t>
            </a:r>
            <a:r>
              <a:rPr lang="en-IN" dirty="0"/>
              <a:t> = boto3.client('</a:t>
            </a:r>
            <a:r>
              <a:rPr lang="en-IN" dirty="0" err="1"/>
              <a:t>cloudfront</a:t>
            </a:r>
            <a:r>
              <a:rPr lang="en-IN" dirty="0"/>
              <a:t>')</a:t>
            </a:r>
          </a:p>
          <a:p>
            <a:pPr marL="0" indent="0">
              <a:spcBef>
                <a:spcPts val="100"/>
              </a:spcBef>
              <a:spcAft>
                <a:spcPts val="300"/>
              </a:spcAft>
              <a:buNone/>
            </a:pPr>
            <a:r>
              <a:rPr lang="en-IN" dirty="0"/>
              <a:t>    </a:t>
            </a:r>
            <a:r>
              <a:rPr lang="en-IN" dirty="0" err="1"/>
              <a:t>distribution_id</a:t>
            </a:r>
            <a:r>
              <a:rPr lang="en-IN" dirty="0"/>
              <a:t> = </a:t>
            </a:r>
            <a:r>
              <a:rPr lang="en-IN" dirty="0" err="1"/>
              <a:t>os.environ</a:t>
            </a:r>
            <a:r>
              <a:rPr lang="en-IN" dirty="0"/>
              <a:t>['CLOUDFRONT_DISTRIBUTION_ID']</a:t>
            </a:r>
          </a:p>
          <a:p>
            <a:pPr marL="0" indent="0">
              <a:spcBef>
                <a:spcPts val="100"/>
              </a:spcBef>
              <a:spcAft>
                <a:spcPts val="300"/>
              </a:spcAft>
              <a:buNone/>
            </a:pPr>
            <a:endParaRPr lang="en-IN" dirty="0"/>
          </a:p>
          <a:p>
            <a:pPr marL="0" indent="0">
              <a:spcBef>
                <a:spcPts val="100"/>
              </a:spcBef>
              <a:spcAft>
                <a:spcPts val="300"/>
              </a:spcAft>
              <a:buNone/>
            </a:pPr>
            <a:r>
              <a:rPr lang="en-IN" dirty="0"/>
              <a:t>    # Create an invalidation for all files or specific changed keys</a:t>
            </a:r>
          </a:p>
          <a:p>
            <a:pPr marL="0" indent="0">
              <a:spcBef>
                <a:spcPts val="100"/>
              </a:spcBef>
              <a:spcAft>
                <a:spcPts val="300"/>
              </a:spcAft>
              <a:buNone/>
            </a:pPr>
            <a:r>
              <a:rPr lang="en-IN" dirty="0"/>
              <a:t>    response = </a:t>
            </a:r>
            <a:r>
              <a:rPr lang="en-IN" dirty="0" err="1"/>
              <a:t>cf_client.create_invalidation</a:t>
            </a:r>
            <a:r>
              <a:rPr lang="en-IN" dirty="0"/>
              <a:t>(</a:t>
            </a:r>
          </a:p>
          <a:p>
            <a:pPr marL="0" indent="0">
              <a:spcBef>
                <a:spcPts val="100"/>
              </a:spcBef>
              <a:spcAft>
                <a:spcPts val="300"/>
              </a:spcAft>
              <a:buNone/>
            </a:pPr>
            <a:r>
              <a:rPr lang="en-IN" dirty="0"/>
              <a:t>        </a:t>
            </a:r>
            <a:r>
              <a:rPr lang="en-IN" dirty="0" err="1"/>
              <a:t>DistributionId</a:t>
            </a:r>
            <a:r>
              <a:rPr lang="en-IN" dirty="0"/>
              <a:t>=</a:t>
            </a:r>
            <a:r>
              <a:rPr lang="en-IN" dirty="0" err="1"/>
              <a:t>distribution_id</a:t>
            </a:r>
            <a:r>
              <a:rPr lang="en-IN" dirty="0"/>
              <a:t>,</a:t>
            </a:r>
          </a:p>
          <a:p>
            <a:pPr marL="0" indent="0">
              <a:spcBef>
                <a:spcPts val="100"/>
              </a:spcBef>
              <a:spcAft>
                <a:spcPts val="300"/>
              </a:spcAft>
              <a:buNone/>
            </a:pPr>
            <a:r>
              <a:rPr lang="en-IN" dirty="0"/>
              <a:t>        </a:t>
            </a:r>
            <a:r>
              <a:rPr lang="en-IN" dirty="0" err="1"/>
              <a:t>InvalidationBatch</a:t>
            </a:r>
            <a:r>
              <a:rPr lang="en-IN" dirty="0"/>
              <a:t>={</a:t>
            </a:r>
          </a:p>
          <a:p>
            <a:pPr marL="0" indent="0">
              <a:spcBef>
                <a:spcPts val="100"/>
              </a:spcBef>
              <a:spcAft>
                <a:spcPts val="300"/>
              </a:spcAft>
              <a:buNone/>
            </a:pPr>
            <a:r>
              <a:rPr lang="en-IN" dirty="0"/>
              <a:t>            'Paths': {</a:t>
            </a:r>
          </a:p>
          <a:p>
            <a:pPr marL="0" indent="0">
              <a:spcBef>
                <a:spcPts val="100"/>
              </a:spcBef>
              <a:spcAft>
                <a:spcPts val="300"/>
              </a:spcAft>
              <a:buNone/>
            </a:pPr>
            <a:r>
              <a:rPr lang="en-IN" dirty="0"/>
              <a:t>                'Quantity': 1,</a:t>
            </a:r>
          </a:p>
          <a:p>
            <a:pPr marL="0" indent="0">
              <a:spcBef>
                <a:spcPts val="100"/>
              </a:spcBef>
              <a:spcAft>
                <a:spcPts val="300"/>
              </a:spcAft>
              <a:buNone/>
            </a:pPr>
            <a:r>
              <a:rPr lang="en-IN" dirty="0"/>
              <a:t>                'Items': ['/*']  # or list specific keys</a:t>
            </a:r>
          </a:p>
          <a:p>
            <a:pPr marL="0" indent="0">
              <a:spcBef>
                <a:spcPts val="100"/>
              </a:spcBef>
              <a:spcAft>
                <a:spcPts val="300"/>
              </a:spcAft>
              <a:buNone/>
            </a:pPr>
            <a:r>
              <a:rPr lang="en-IN" dirty="0"/>
              <a:t>            },</a:t>
            </a:r>
          </a:p>
          <a:p>
            <a:pPr marL="0" indent="0">
              <a:spcBef>
                <a:spcPts val="100"/>
              </a:spcBef>
              <a:spcAft>
                <a:spcPts val="300"/>
              </a:spcAft>
              <a:buNone/>
            </a:pPr>
            <a:r>
              <a:rPr lang="en-IN" dirty="0"/>
              <a:t>            '</a:t>
            </a:r>
            <a:r>
              <a:rPr lang="en-IN" dirty="0" err="1"/>
              <a:t>CallerReference</a:t>
            </a:r>
            <a:r>
              <a:rPr lang="en-IN" dirty="0"/>
              <a:t>': str(</a:t>
            </a:r>
            <a:r>
              <a:rPr lang="en-IN" dirty="0" err="1"/>
              <a:t>time.time</a:t>
            </a:r>
            <a:r>
              <a:rPr lang="en-IN" dirty="0"/>
              <a:t>())</a:t>
            </a:r>
          </a:p>
          <a:p>
            <a:pPr marL="0" indent="0">
              <a:spcBef>
                <a:spcPts val="100"/>
              </a:spcBef>
              <a:spcAft>
                <a:spcPts val="300"/>
              </a:spcAft>
              <a:buNone/>
            </a:pPr>
            <a:r>
              <a:rPr lang="en-IN" dirty="0"/>
              <a:t>        }</a:t>
            </a:r>
          </a:p>
          <a:p>
            <a:pPr marL="0" indent="0">
              <a:spcBef>
                <a:spcPts val="100"/>
              </a:spcBef>
              <a:spcAft>
                <a:spcPts val="300"/>
              </a:spcAft>
              <a:buNone/>
            </a:pPr>
            <a:r>
              <a:rPr lang="en-IN" dirty="0"/>
              <a:t>    )</a:t>
            </a:r>
          </a:p>
          <a:p>
            <a:pPr marL="0" indent="0">
              <a:spcBef>
                <a:spcPts val="100"/>
              </a:spcBef>
              <a:spcAft>
                <a:spcPts val="300"/>
              </a:spcAft>
              <a:buNone/>
            </a:pPr>
            <a:br>
              <a:rPr lang="en-IN" dirty="0"/>
            </a:br>
            <a:endParaRPr lang="en-IN" dirty="0"/>
          </a:p>
          <a:p>
            <a:pPr marL="0" indent="0">
              <a:spcBef>
                <a:spcPts val="100"/>
              </a:spcBef>
              <a:spcAft>
                <a:spcPts val="300"/>
              </a:spcAft>
              <a:buNone/>
            </a:pPr>
            <a:r>
              <a:rPr lang="en-IN" dirty="0"/>
              <a:t>   print("Invalidation created:", response['Invalidation']['Id'])</a:t>
            </a:r>
          </a:p>
          <a:p>
            <a:pPr marL="0" indent="0">
              <a:spcBef>
                <a:spcPts val="100"/>
              </a:spcBef>
              <a:spcAft>
                <a:spcPts val="300"/>
              </a:spcAft>
              <a:buNone/>
            </a:pPr>
            <a:r>
              <a:rPr lang="en-IN" dirty="0"/>
              <a:t>  return {"status": "success", "</a:t>
            </a:r>
            <a:r>
              <a:rPr lang="en-IN" dirty="0" err="1"/>
              <a:t>invalidation_id</a:t>
            </a:r>
            <a:r>
              <a:rPr lang="en-IN" dirty="0"/>
              <a:t>": response['Invalidation']['Id']}</a:t>
            </a:r>
          </a:p>
          <a:p>
            <a:pPr marL="0" indent="0">
              <a:spcBef>
                <a:spcPts val="100"/>
              </a:spcBef>
              <a:spcAft>
                <a:spcPts val="300"/>
              </a:spcAft>
              <a:buNone/>
            </a:pPr>
            <a:br>
              <a:rPr lang="en-IN" dirty="0"/>
            </a:br>
            <a:endParaRPr lang="en-IN" dirty="0"/>
          </a:p>
          <a:p>
            <a:pPr>
              <a:spcBef>
                <a:spcPts val="100"/>
              </a:spcBef>
              <a:spcAft>
                <a:spcPts val="300"/>
              </a:spcAft>
            </a:pPr>
            <a:r>
              <a:rPr lang="en-IN" dirty="0"/>
              <a:t>    </a:t>
            </a:r>
          </a:p>
          <a:p>
            <a:pPr>
              <a:spcBef>
                <a:spcPts val="100"/>
              </a:spcBef>
              <a:spcAft>
                <a:spcPts val="300"/>
              </a:spcAft>
            </a:pPr>
            <a:endParaRPr lang="en-IN" dirty="0"/>
          </a:p>
        </p:txBody>
      </p:sp>
      <p:sp>
        <p:nvSpPr>
          <p:cNvPr id="7" name="Text Placeholder 6">
            <a:extLst>
              <a:ext uri="{FF2B5EF4-FFF2-40B4-BE49-F238E27FC236}">
                <a16:creationId xmlns:a16="http://schemas.microsoft.com/office/drawing/2014/main" id="{51A4E456-08FD-5FAB-6A2F-4187FE9F072F}"/>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B79437EE-8D35-2F3A-AF18-32A55CCD8283}"/>
              </a:ext>
            </a:extLst>
          </p:cNvPr>
          <p:cNvSpPr>
            <a:spLocks noGrp="1"/>
          </p:cNvSpPr>
          <p:nvPr>
            <p:ph type="body" sz="quarter" idx="35"/>
          </p:nvPr>
        </p:nvSpPr>
        <p:spPr/>
        <p:txBody>
          <a:bodyPr/>
          <a:lstStyle/>
          <a:p>
            <a:endParaRPr lang="en-IN"/>
          </a:p>
        </p:txBody>
      </p:sp>
    </p:spTree>
    <p:extLst>
      <p:ext uri="{BB962C8B-B14F-4D97-AF65-F5344CB8AC3E}">
        <p14:creationId xmlns:p14="http://schemas.microsoft.com/office/powerpoint/2010/main" val="32225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50513"/>
          </a:xfrm>
        </p:spPr>
        <p:txBody>
          <a:bodyPr/>
          <a:lstStyle/>
          <a:p>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379562" y="1000664"/>
            <a:ext cx="11331863" cy="5339284"/>
          </a:xfrm>
        </p:spPr>
        <p:txBody>
          <a:bodyPr/>
          <a:lstStyle/>
          <a:p>
            <a:endParaRPr lang="en-US" dirty="0"/>
          </a:p>
          <a:p>
            <a:r>
              <a:rPr lang="en-IN" dirty="0"/>
              <a:t>Source Stage: Pulls from GitHub/</a:t>
            </a:r>
            <a:r>
              <a:rPr lang="en-IN" dirty="0" err="1"/>
              <a:t>CodeCommit</a:t>
            </a:r>
            <a:endParaRPr lang="en-IN" dirty="0"/>
          </a:p>
          <a:p>
            <a:r>
              <a:rPr lang="en-IN" dirty="0"/>
              <a:t>Deploy Stage: Upload to S3</a:t>
            </a:r>
          </a:p>
          <a:p>
            <a:r>
              <a:rPr lang="en-IN" dirty="0"/>
              <a:t>Invoke Lambda: Auto CloudFront invalidation</a:t>
            </a:r>
          </a:p>
          <a:p>
            <a:endParaRPr lang="en-US" dirty="0"/>
          </a:p>
          <a:p>
            <a:endParaRPr lang="en-US" dirty="0"/>
          </a:p>
          <a:p>
            <a:endParaRPr lang="en-US" dirty="0"/>
          </a:p>
          <a:p>
            <a:endParaRPr lang="en-US" dirty="0"/>
          </a:p>
          <a:p>
            <a:pPr marL="0" indent="0">
              <a:buNone/>
            </a:pPr>
            <a:endParaRPr lang="en-IN"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dirty="0"/>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pic>
        <p:nvPicPr>
          <p:cNvPr id="3" name="Picture 2">
            <a:extLst>
              <a:ext uri="{FF2B5EF4-FFF2-40B4-BE49-F238E27FC236}">
                <a16:creationId xmlns:a16="http://schemas.microsoft.com/office/drawing/2014/main" id="{0030018D-6A13-62E4-1BDF-BAE3AB0EAAA6}"/>
              </a:ext>
            </a:extLst>
          </p:cNvPr>
          <p:cNvPicPr>
            <a:picLocks noChangeAspect="1"/>
          </p:cNvPicPr>
          <p:nvPr/>
        </p:nvPicPr>
        <p:blipFill>
          <a:blip r:embed="rId3"/>
          <a:stretch>
            <a:fillRect/>
          </a:stretch>
        </p:blipFill>
        <p:spPr>
          <a:xfrm>
            <a:off x="2941097" y="2890533"/>
            <a:ext cx="6230961" cy="3491217"/>
          </a:xfrm>
          <a:prstGeom prst="rect">
            <a:avLst/>
          </a:prstGeom>
        </p:spPr>
      </p:pic>
    </p:spTree>
    <p:extLst>
      <p:ext uri="{BB962C8B-B14F-4D97-AF65-F5344CB8AC3E}">
        <p14:creationId xmlns:p14="http://schemas.microsoft.com/office/powerpoint/2010/main" val="273179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D8E729-7E6D-7965-B9EC-8A3676CCB4F1}"/>
              </a:ext>
            </a:extLst>
          </p:cNvPr>
          <p:cNvSpPr>
            <a:spLocks noGrp="1"/>
          </p:cNvSpPr>
          <p:nvPr>
            <p:ph type="sldNum" sz="quarter" idx="12"/>
          </p:nvPr>
        </p:nvSpPr>
        <p:spPr/>
        <p:txBody>
          <a:bodyPr/>
          <a:lstStyle/>
          <a:p>
            <a:fld id="{E4C2AD82-1025-4508-97C1-6F7EE5C92734}" type="slidenum">
              <a:rPr lang="en-AU" smtClean="0"/>
              <a:pPr/>
              <a:t>10</a:t>
            </a:fld>
            <a:endParaRPr lang="en-AU" dirty="0"/>
          </a:p>
        </p:txBody>
      </p:sp>
      <p:sp>
        <p:nvSpPr>
          <p:cNvPr id="6" name="Text Placeholder 5">
            <a:extLst>
              <a:ext uri="{FF2B5EF4-FFF2-40B4-BE49-F238E27FC236}">
                <a16:creationId xmlns:a16="http://schemas.microsoft.com/office/drawing/2014/main" id="{4345106D-E3A9-A50F-6D31-66E87E2CC587}"/>
              </a:ext>
            </a:extLst>
          </p:cNvPr>
          <p:cNvSpPr>
            <a:spLocks noGrp="1"/>
          </p:cNvSpPr>
          <p:nvPr>
            <p:ph type="body" sz="quarter" idx="17"/>
          </p:nvPr>
        </p:nvSpPr>
        <p:spPr>
          <a:xfrm>
            <a:off x="479425" y="348852"/>
            <a:ext cx="11232000" cy="5991096"/>
          </a:xfrm>
        </p:spPr>
        <p:txBody>
          <a:bodyPr/>
          <a:lstStyle/>
          <a:p>
            <a:endParaRPr lang="en-US" dirty="0"/>
          </a:p>
          <a:p>
            <a:r>
              <a:rPr lang="en-US" dirty="0"/>
              <a:t>Push code → Pipeline executes</a:t>
            </a:r>
          </a:p>
          <a:p>
            <a:r>
              <a:rPr lang="en-US" dirty="0"/>
              <a:t>Deploys to S3 → Lambda runs</a:t>
            </a:r>
          </a:p>
          <a:p>
            <a:r>
              <a:rPr lang="en-US" dirty="0"/>
              <a:t>CloudFront invalidates → New content live instantly</a:t>
            </a:r>
            <a:br>
              <a:rPr lang="en-US" dirty="0"/>
            </a:br>
            <a:endParaRPr lang="en-US" dirty="0"/>
          </a:p>
          <a:p>
            <a:pPr marL="0" indent="0">
              <a:buNone/>
            </a:pPr>
            <a:endParaRPr lang="en-US" dirty="0"/>
          </a:p>
          <a:p>
            <a:endParaRPr lang="en-US" dirty="0"/>
          </a:p>
          <a:p>
            <a:endParaRPr lang="en-US" dirty="0"/>
          </a:p>
          <a:p>
            <a:endParaRPr lang="en-US" dirty="0"/>
          </a:p>
          <a:p>
            <a:endParaRPr lang="en-IN" dirty="0"/>
          </a:p>
        </p:txBody>
      </p:sp>
      <p:sp>
        <p:nvSpPr>
          <p:cNvPr id="7" name="Text Placeholder 6">
            <a:extLst>
              <a:ext uri="{FF2B5EF4-FFF2-40B4-BE49-F238E27FC236}">
                <a16:creationId xmlns:a16="http://schemas.microsoft.com/office/drawing/2014/main" id="{E4A12CB8-7DEE-9584-D502-B9A7169F713B}"/>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87942665-8039-5E26-3B3C-A8D18671BA12}"/>
              </a:ext>
            </a:extLst>
          </p:cNvPr>
          <p:cNvSpPr>
            <a:spLocks noGrp="1"/>
          </p:cNvSpPr>
          <p:nvPr>
            <p:ph type="body" sz="quarter" idx="35"/>
          </p:nvPr>
        </p:nvSpPr>
        <p:spPr/>
        <p:txBody>
          <a:bodyPr/>
          <a:lstStyle/>
          <a:p>
            <a:endParaRPr lang="en-IN"/>
          </a:p>
        </p:txBody>
      </p:sp>
      <p:pic>
        <p:nvPicPr>
          <p:cNvPr id="4" name="Picture 3">
            <a:extLst>
              <a:ext uri="{FF2B5EF4-FFF2-40B4-BE49-F238E27FC236}">
                <a16:creationId xmlns:a16="http://schemas.microsoft.com/office/drawing/2014/main" id="{5A1BFD2C-4C21-D0D6-81A4-C0DEDD433D14}"/>
              </a:ext>
            </a:extLst>
          </p:cNvPr>
          <p:cNvPicPr>
            <a:picLocks noChangeAspect="1"/>
          </p:cNvPicPr>
          <p:nvPr/>
        </p:nvPicPr>
        <p:blipFill>
          <a:blip r:embed="rId2"/>
          <a:stretch>
            <a:fillRect/>
          </a:stretch>
        </p:blipFill>
        <p:spPr>
          <a:xfrm>
            <a:off x="479425" y="2765082"/>
            <a:ext cx="4773680" cy="2848938"/>
          </a:xfrm>
          <a:prstGeom prst="rect">
            <a:avLst/>
          </a:prstGeom>
        </p:spPr>
      </p:pic>
      <p:pic>
        <p:nvPicPr>
          <p:cNvPr id="9" name="Picture 8">
            <a:extLst>
              <a:ext uri="{FF2B5EF4-FFF2-40B4-BE49-F238E27FC236}">
                <a16:creationId xmlns:a16="http://schemas.microsoft.com/office/drawing/2014/main" id="{4D8DD642-8C22-3FDF-9723-5302D814BF7F}"/>
              </a:ext>
            </a:extLst>
          </p:cNvPr>
          <p:cNvPicPr>
            <a:picLocks noChangeAspect="1"/>
          </p:cNvPicPr>
          <p:nvPr/>
        </p:nvPicPr>
        <p:blipFill>
          <a:blip r:embed="rId3"/>
          <a:stretch>
            <a:fillRect/>
          </a:stretch>
        </p:blipFill>
        <p:spPr>
          <a:xfrm>
            <a:off x="6197166" y="2765082"/>
            <a:ext cx="4930908" cy="2848937"/>
          </a:xfrm>
          <a:prstGeom prst="rect">
            <a:avLst/>
          </a:prstGeom>
        </p:spPr>
      </p:pic>
    </p:spTree>
    <p:extLst>
      <p:ext uri="{BB962C8B-B14F-4D97-AF65-F5344CB8AC3E}">
        <p14:creationId xmlns:p14="http://schemas.microsoft.com/office/powerpoint/2010/main" val="2624481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5B7D6-E1C3-1C2D-F13A-A36C0BD40228}"/>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4EB934E8-4396-BFEB-8335-6E97B979E5FA}"/>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27DD9F8D-5B76-EEC5-E13A-345DF428669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12</a:t>
            </a:fld>
            <a:endParaRPr lang="en-AU" dirty="0"/>
          </a:p>
        </p:txBody>
      </p:sp>
      <p:sp>
        <p:nvSpPr>
          <p:cNvPr id="12" name="Title 11">
            <a:extLst>
              <a:ext uri="{FF2B5EF4-FFF2-40B4-BE49-F238E27FC236}">
                <a16:creationId xmlns:a16="http://schemas.microsoft.com/office/drawing/2014/main" id="{8899C19B-664E-C193-F1DF-8278FC04EE0A}"/>
              </a:ext>
            </a:extLst>
          </p:cNvPr>
          <p:cNvSpPr>
            <a:spLocks noGrp="1"/>
          </p:cNvSpPr>
          <p:nvPr>
            <p:ph type="title"/>
          </p:nvPr>
        </p:nvSpPr>
        <p:spPr>
          <a:xfrm>
            <a:off x="479425" y="476250"/>
            <a:ext cx="11233150" cy="746695"/>
          </a:xfrm>
        </p:spPr>
        <p:txBody>
          <a:bodyPr/>
          <a:lstStyle/>
          <a:p>
            <a:r>
              <a:rPr lang="en-GB" dirty="0"/>
              <a:t>Limitations of </a:t>
            </a:r>
            <a:r>
              <a:rPr lang="en-GB" dirty="0" err="1"/>
              <a:t>Cloudfront</a:t>
            </a:r>
            <a:r>
              <a:rPr lang="en-GB" dirty="0"/>
              <a:t> Invalidation</a:t>
            </a:r>
          </a:p>
        </p:txBody>
      </p:sp>
      <p:sp>
        <p:nvSpPr>
          <p:cNvPr id="14" name="Content Placeholder 13">
            <a:extLst>
              <a:ext uri="{FF2B5EF4-FFF2-40B4-BE49-F238E27FC236}">
                <a16:creationId xmlns:a16="http://schemas.microsoft.com/office/drawing/2014/main" id="{F47F502B-9CB8-967C-1760-7B02E337428D}"/>
              </a:ext>
            </a:extLst>
          </p:cNvPr>
          <p:cNvSpPr>
            <a:spLocks noGrp="1"/>
          </p:cNvSpPr>
          <p:nvPr>
            <p:ph type="body" sz="quarter" idx="17"/>
          </p:nvPr>
        </p:nvSpPr>
        <p:spPr>
          <a:xfrm>
            <a:off x="478275" y="1090296"/>
            <a:ext cx="11233150" cy="5291453"/>
          </a:xfrm>
        </p:spPr>
        <p:txBody>
          <a:bodyPr/>
          <a:lstStyle/>
          <a:p>
            <a:endParaRPr lang="en-GB" dirty="0"/>
          </a:p>
          <a:p>
            <a:pPr marL="0" indent="0">
              <a:buNone/>
            </a:pPr>
            <a:endParaRPr lang="en-US" dirty="0"/>
          </a:p>
          <a:p>
            <a:pPr>
              <a:buFont typeface="Wingdings" panose="05000000000000000000" pitchFamily="2" charset="2"/>
              <a:buChar char="Ø"/>
            </a:pPr>
            <a:r>
              <a:rPr lang="en-IN" dirty="0"/>
              <a:t>Maximum </a:t>
            </a:r>
            <a:r>
              <a:rPr lang="en-IN" b="1" dirty="0"/>
              <a:t>3,000 file paths</a:t>
            </a:r>
            <a:r>
              <a:rPr lang="en-IN" dirty="0"/>
              <a:t> per invalidation request.</a:t>
            </a:r>
          </a:p>
          <a:p>
            <a:pPr>
              <a:buFont typeface="Wingdings" panose="05000000000000000000" pitchFamily="2" charset="2"/>
              <a:buChar char="Ø"/>
            </a:pPr>
            <a:r>
              <a:rPr lang="en-US" dirty="0"/>
              <a:t>Max </a:t>
            </a:r>
            <a:r>
              <a:rPr lang="en-US" b="1" dirty="0"/>
              <a:t>15 wildcard paths</a:t>
            </a:r>
            <a:r>
              <a:rPr lang="en-US" dirty="0"/>
              <a:t> in progress per distribution.</a:t>
            </a:r>
          </a:p>
          <a:p>
            <a:pPr>
              <a:buFont typeface="Wingdings" panose="05000000000000000000" pitchFamily="2" charset="2"/>
              <a:buChar char="Ø"/>
            </a:pPr>
            <a:r>
              <a:rPr lang="en-US" dirty="0"/>
              <a:t>Too many at once → </a:t>
            </a:r>
            <a:r>
              <a:rPr lang="en-US" b="1" dirty="0" err="1"/>
              <a:t>TooManyInvalidationsInProgress</a:t>
            </a:r>
            <a:r>
              <a:rPr lang="en-US" b="1" dirty="0"/>
              <a:t>/Throttling</a:t>
            </a:r>
            <a:r>
              <a:rPr lang="en-US" dirty="0"/>
              <a:t> error.</a:t>
            </a:r>
          </a:p>
          <a:p>
            <a:pPr marL="0" indent="0">
              <a:buNone/>
            </a:pPr>
            <a:endParaRPr lang="en-GB" dirty="0"/>
          </a:p>
        </p:txBody>
      </p:sp>
      <p:sp>
        <p:nvSpPr>
          <p:cNvPr id="10" name="Text Placeholder 9">
            <a:extLst>
              <a:ext uri="{FF2B5EF4-FFF2-40B4-BE49-F238E27FC236}">
                <a16:creationId xmlns:a16="http://schemas.microsoft.com/office/drawing/2014/main" id="{0F54FA31-5357-0726-D6A3-C2C0D194063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CD20E087-612A-5EE2-3C7C-811502E13DF8}"/>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094781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14</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2.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13299</TotalTime>
  <Words>696</Words>
  <Application>Microsoft Office PowerPoint</Application>
  <PresentationFormat>Widescreen</PresentationFormat>
  <Paragraphs>135</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Wingdings</vt:lpstr>
      <vt:lpstr>Office Theme</vt:lpstr>
      <vt:lpstr>AWS CloudFront Auto Invalidation using Code pipeline</vt:lpstr>
      <vt:lpstr>Agenda</vt:lpstr>
      <vt:lpstr>Project Overview </vt:lpstr>
      <vt:lpstr>Architecture Overview </vt:lpstr>
      <vt:lpstr> Components</vt:lpstr>
      <vt:lpstr> Workflow Steps</vt:lpstr>
      <vt:lpstr> Lambda Function Logic</vt:lpstr>
      <vt:lpstr>PowerPoint Presentation</vt:lpstr>
      <vt:lpstr>Deployment Steps</vt:lpstr>
      <vt:lpstr>PowerPoint Presentation</vt:lpstr>
      <vt:lpstr>Benefits &amp; Cost Considerations</vt:lpstr>
      <vt:lpstr>Limitations of Cloudfront Invalidation</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2025-12-04T03:47:34Z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